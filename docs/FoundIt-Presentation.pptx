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B9A0DC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4360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A0D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D4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C0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ACD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D69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Complementarity</c:v>
                  </c:pt>
                  <c:pt idx="1">
                    <c:v>Recency decay</c:v>
                  </c:pt>
                  <c:pt idx="2">
                    <c:v>Zone adjacency</c:v>
                  </c:pt>
                  <c:pt idx="3">
                    <c:v>Keyword overlap</c:v>
                  </c:pt>
                  <c:pt idx="4">
                    <c:v>Category match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A4360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36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AFE"/>
        </a:solidFill>
        <a:ln>
          <a:noFill/>
        </a:ln>
        <a:effectLst/>
      </c:spPr>
    </c:plotArea>
    <c:plotVisOnly val="1"/>
    <c:dispBlanksAs val="span"/>
  </c:chart>
  <c:spPr>
    <a:solidFill>
      <a:srgbClr val="FBFA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FoundIt is our campus Lost &amp; Found plus student marketplace. Built as a full-stack web app by a team of four over one semester. Today: introduction, requirements, and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mandatory sections — introduction, requirements, architecture — with data, security and delivery treated as part of the architecture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lived problem. Both halves of FoundIt come from the same failure: no structured, trusted place for campus-local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are either too broad and untrusted, too unstructured, or too narrow. None does both jobs for one verified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login, two flows. The numbers on the right are the shape of the build: five modules behind four roles, 24 functional requirements, ten AI-assisted features with deterministic fallbacks.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and each maps onto a module you will see in the requirements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deliberately bounded: no payment gateway, no native app, one campus. Everything else is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roles with distinct permissions. The key point for the viva: the role is a server-set custom claim, not a client-side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are labelled FR-1 to FR-24 for traceability, grouped by the module that owns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FR-9 is the interesting one — smart matching. It is implemented server-side as a five-factor score, which we come back to in the architecture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FR-15 is deliberately a handshake, not a payment: both parties confirm, then the listing is marked sold and reviews unlock.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level-0 context diagram: three human actors plus the data store, and the flows each one exchanges with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non-functional requirements. Security and privacy are the ones the architecture spends the most effort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gives real-time listeners, offline caching and serverless scale on a free tier. Vercel hosts the frontend for per-PR preview deploys.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the architectural style in one sentence: event-driven, with CQRS separating what the client writes from what the server computes.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tiers. Note the gateway row: Security Rules are a real architectural layer here, not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patterns, each tied to a concrete file or function — useful if the examiner asks where a pattern actually lives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collections. The trade-off for losing joins is denormalisation, and the cost of denormalisation is staleness — handled by recompute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 decomposes the platform into five processes and four data stores. Each process maps onto one requirements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rule layers, applied in order. The keeps() helper is the single most important line of defence for server-computed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functions, split between document triggers and callable RPCs. Everything security-critical lives here rather than in the client. onClaimCreated is what makes the claim visible to the finder — without it FR-10 could not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scoring algorithms, both server-side. Match score is a weighted sum; trust is Bayesian-damped so a small number of ratings cannot swing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deployment targets — Vercel for the frontend, Firebase for everything server-side. The trade-off we accepted for per-PR previews.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members, four vertical slices, one shared contract agreed in week one — which is why integration was continuous rather than a final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outcome, then open the floor. Be ready for questions on CQRS, the keeps() rule helper and the two scoring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2-1.png"/><Relationship Id="rId3" Type="http://schemas.openxmlformats.org/officeDocument/2006/relationships/image" Target="../media/image-2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1325880"/>
            <a:ext cx="4297680" cy="429768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2331720"/>
            <a:ext cx="1417320" cy="141732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60120" y="-1234440"/>
            <a:ext cx="2057400" cy="2057400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53328"/>
            <a:ext cx="566928" cy="566928"/>
          </a:xfrm>
          <a:prstGeom prst="ellipse">
            <a:avLst/>
          </a:prstGeom>
          <a:solidFill>
            <a:srgbClr val="F8D7E1"/>
          </a:solidFill>
          <a:ln w="12700">
            <a:solidFill>
              <a:srgbClr val="F8D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896112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896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IIIT KOTTAYAM  ·  SOFTWARE ARCHITECTURE  ·  SEM 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353312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FoundIt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4505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Lost, found, and sold — all on campus.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926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campus-scoped Lost &amp; Found and Student Marketplace web platform — verified access, smart matching, server-side trust and community moderation.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04164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2688" y="4233672"/>
            <a:ext cx="128016" cy="128016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52144" y="41696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 Rakesh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443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2024BCD0006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466344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 &amp; Backend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0" y="404164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75888" y="4233672"/>
            <a:ext cx="128016" cy="12801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95344" y="41696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Shenza P 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4443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2024BCD0002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895344" y="466344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&amp; UI/UX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404164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233672"/>
            <a:ext cx="128016" cy="128016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38544" y="41696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Muhammed Shanid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38544" y="4443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2024BCD0034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638544" y="466344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&amp; Admin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4041648"/>
            <a:ext cx="2487168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62288" y="4233672"/>
            <a:ext cx="128016" cy="128016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81744" y="41696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Hadi M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381744" y="44439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2024BCD0058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381744" y="466344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&amp; DevOps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54132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Full-Stack Web Application   ·   Team of 4   ·   One-Semester Project   · 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90874" cy="2048256"/>
          </a:xfrm>
          <a:prstGeom prst="roundRect">
            <a:avLst>
              <a:gd name="adj" fmla="val 535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47088"/>
            <a:ext cx="566928" cy="566928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07" y="2000159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89122" y="1883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560320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926080"/>
            <a:ext cx="29056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campus problem, why today's options fail, and what FoundIt sets out to do.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50410" y="1572768"/>
            <a:ext cx="3490874" cy="2048256"/>
          </a:xfrm>
          <a:prstGeom prst="roundRect">
            <a:avLst>
              <a:gd name="adj" fmla="val 535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3018" y="1847088"/>
            <a:ext cx="566928" cy="566928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89" y="200015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72605" y="1883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43018" y="2560320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643018" y="2926080"/>
            <a:ext cx="29056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roles, 24 functional requirements across five modules, nine quality attributes.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3893" y="1572768"/>
            <a:ext cx="3490874" cy="2048256"/>
          </a:xfrm>
          <a:prstGeom prst="roundRect">
            <a:avLst>
              <a:gd name="adj" fmla="val 535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6501" y="1847088"/>
            <a:ext cx="566928" cy="566928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571" y="2000159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56087" y="1883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426501" y="2560320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426501" y="2926080"/>
            <a:ext cx="29056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Event-driven style, the layered system view, and the patterns holding it together.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66928" y="3895344"/>
            <a:ext cx="3490874" cy="2048256"/>
          </a:xfrm>
          <a:prstGeom prst="roundRect">
            <a:avLst>
              <a:gd name="adj" fmla="val 535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9536" y="4169664"/>
            <a:ext cx="566928" cy="566928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07" y="4322735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189122" y="4206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859536" y="488289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&amp; Security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859536" y="5248656"/>
            <a:ext cx="29056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Firestore collections, denormalisation, role-based access and defence in depth.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50410" y="3895344"/>
            <a:ext cx="3490874" cy="2048256"/>
          </a:xfrm>
          <a:prstGeom prst="roundRect">
            <a:avLst>
              <a:gd name="adj" fmla="val 535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3018" y="4169664"/>
            <a:ext cx="566928" cy="566928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89" y="4322735"/>
            <a:ext cx="260787" cy="26078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72605" y="4206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4643018" y="488289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4643018" y="5248656"/>
            <a:ext cx="29056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Functions, scoring algorithms, environments and the deployment pipeline.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33893" y="3895344"/>
            <a:ext cx="3490874" cy="2048256"/>
          </a:xfrm>
          <a:prstGeom prst="roundRect">
            <a:avLst>
              <a:gd name="adj" fmla="val 535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26501" y="4169664"/>
            <a:ext cx="566928" cy="566928"/>
          </a:xfrm>
          <a:prstGeom prst="ellipse">
            <a:avLst/>
          </a:prstGeom>
          <a:solidFill>
            <a:srgbClr val="F8D7E1"/>
          </a:solidFill>
          <a:ln w="12700">
            <a:solidFill>
              <a:srgbClr val="F8D7E1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571" y="4322735"/>
            <a:ext cx="260787" cy="260787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756087" y="4206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34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8426501" y="4882896"/>
            <a:ext cx="2905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&amp; Outcome</a:t>
            </a:r>
            <a:endParaRPr lang="en-US" sz="1550" dirty="0"/>
          </a:p>
        </p:txBody>
      </p:sp>
      <p:sp>
        <p:nvSpPr>
          <p:cNvPr id="39" name="Text 31"/>
          <p:cNvSpPr txBox="1"/>
          <p:nvPr/>
        </p:nvSpPr>
        <p:spPr>
          <a:xfrm>
            <a:off x="8426501" y="5248656"/>
            <a:ext cx="29056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owned what, and the working platform this semester delivers.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problems every campus repeats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64328" cy="2697480"/>
          </a:xfrm>
          <a:prstGeom prst="roundRect">
            <a:avLst>
              <a:gd name="adj" fmla="val 4068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47088"/>
            <a:ext cx="676656" cy="676656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097" y="2029785"/>
            <a:ext cx="311262" cy="311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0662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Things get lost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63824"/>
            <a:ext cx="466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 cards, water bottles, calculators and chargers disappear every week. Whoever finds them has no reliable way to reach the owner, and the owner has nowhere to look.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0440" y="1517904"/>
            <a:ext cx="5364328" cy="2697480"/>
          </a:xfrm>
          <a:prstGeom prst="roundRect">
            <a:avLst>
              <a:gd name="adj" fmla="val 4068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7912" y="1847088"/>
            <a:ext cx="676656" cy="67665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609" y="2029785"/>
            <a:ext cx="311262" cy="311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07912" y="2706624"/>
            <a:ext cx="466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Things go unused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07912" y="3163824"/>
            <a:ext cx="466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Textbooks, cycles, lab coats and hostel essentials pile up — especially at graduation and move-out — with no organised way to pass them down to juniors.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4480560"/>
            <a:ext cx="11057839" cy="1481328"/>
          </a:xfrm>
          <a:prstGeom prst="roundRect">
            <a:avLst>
              <a:gd name="adj" fmla="val 7407"/>
            </a:avLst>
          </a:prstGeom>
          <a:solidFill>
            <a:srgbClr val="EDE4F9"/>
          </a:solidFill>
          <a:ln w="12700">
            <a:solidFill>
              <a:srgbClr val="DFD2F2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50976" y="47000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TODAY'S WORKAROUND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950976" y="4992624"/>
            <a:ext cx="102897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problems run on scattered WhatsApp groups and physical notice boards. Posts get buried within hours, nothing is searchable, there is no claim process — and no way to verify who is on the other side of the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existing options fall short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3490874" cy="3108960"/>
          </a:xfrm>
          <a:prstGeom prst="roundRect">
            <a:avLst>
              <a:gd name="adj" fmla="val 3529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92224"/>
            <a:ext cx="548640" cy="54864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1940357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17904" y="1810512"/>
            <a:ext cx="224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 marketplaces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17904" y="2084832"/>
            <a:ext cx="2247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OLX · Facebook Marketplace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560320"/>
            <a:ext cx="2905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OFFERS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27980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City-wide second-hand buying and selling, with a large audience.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3456432"/>
            <a:ext cx="2905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FALLS SHORT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3694176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to strangers, no campus verification, real safety and trust concerns — and no lost-and-found at all.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50410" y="1517904"/>
            <a:ext cx="3490874" cy="3108960"/>
          </a:xfrm>
          <a:prstGeom prst="roundRect">
            <a:avLst>
              <a:gd name="adj" fmla="val 3529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3018" y="1792224"/>
            <a:ext cx="548640" cy="54864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151" y="1940357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01386" y="1810512"/>
            <a:ext cx="224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 groups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301386" y="2084832"/>
            <a:ext cx="2247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· Telegram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2560320"/>
            <a:ext cx="2905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OFFERS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4643018" y="27980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Informal sharing inside batch and hostel groups people already use.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643018" y="3456432"/>
            <a:ext cx="2905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FALLS SHORT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4643018" y="3694176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Unstructured — posts get buried, nothing is searchable, no claim workflow and no moderation.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3893" y="1517904"/>
            <a:ext cx="3490874" cy="3108960"/>
          </a:xfrm>
          <a:prstGeom prst="roundRect">
            <a:avLst>
              <a:gd name="adj" fmla="val 3529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26501" y="1792224"/>
            <a:ext cx="548640" cy="548640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634" y="1940357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84869" y="1810512"/>
            <a:ext cx="2247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Notice boards</a:t>
            </a:r>
            <a:endParaRPr lang="en-US" sz="1450" dirty="0"/>
          </a:p>
        </p:txBody>
      </p:sp>
      <p:sp>
        <p:nvSpPr>
          <p:cNvPr id="26" name="Text 21"/>
          <p:cNvSpPr txBox="1"/>
          <p:nvPr/>
        </p:nvSpPr>
        <p:spPr>
          <a:xfrm>
            <a:off x="9084869" y="2084832"/>
            <a:ext cx="2247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Physical, outside the office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8426501" y="2560320"/>
            <a:ext cx="2905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OFFERS</a:t>
            </a:r>
            <a:endParaRPr lang="en-US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8426501" y="27980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traditional way to put up a lost-and-found notice on campus.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8426501" y="3456432"/>
            <a:ext cx="2905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FALLS SHORT</a:t>
            </a:r>
            <a:endParaRPr lang="en-US" sz="850" dirty="0"/>
          </a:p>
        </p:txBody>
      </p:sp>
      <p:sp>
        <p:nvSpPr>
          <p:cNvPr id="30" name="Text 25"/>
          <p:cNvSpPr txBox="1"/>
          <p:nvPr/>
        </p:nvSpPr>
        <p:spPr>
          <a:xfrm>
            <a:off x="8426501" y="3694176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searchable, limited reach, easily missed — and no marketplace side whatsoever.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66928" y="4882896"/>
            <a:ext cx="11057839" cy="1133856"/>
          </a:xfrm>
          <a:prstGeom prst="roundRect">
            <a:avLst>
              <a:gd name="adj" fmla="val 9677"/>
            </a:avLst>
          </a:prstGeom>
          <a:solidFill>
            <a:srgbClr val="E6DBF6"/>
          </a:solidFill>
          <a:ln w="12700">
            <a:solidFill>
              <a:srgbClr val="D9CBEF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950976" y="5102352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single, trusted, campus-only platform combines lost-and-found recovery with a student marketplace.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gap is exactly what FoundIt fills.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verified platform, two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FoundIt is a single web application behind a verified campus login. A user posts a lost or found item with details, an image and a campus zone; the system suggests likely matches and the owner claims the item through an approve-or-reject flow. In the marketplace, users list goods with price and condition, browse and filter, then confirm a deal through a two-party handshake and rate each other afterwards.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3255264"/>
            <a:ext cx="457200" cy="45720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378708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32369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Campus-scoped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207008" y="3502152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verified campus email is the gate, and every post is tagged to a campus zone.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4114800"/>
            <a:ext cx="457200" cy="45720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423824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07008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matching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207008" y="43616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Five-factor scoring pairs lost reports with found reports automatically.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" y="4974336"/>
            <a:ext cx="457200" cy="45720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9778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07008" y="4956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Accountable by design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207008" y="5221224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scores, a claim workflow and community moderation replace guesswork.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858000" y="1591056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114032" y="199339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2779776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336024" y="1591056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9592056" y="199339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9592056" y="2779776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58000" y="3712464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7114032" y="411480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4000" dirty="0"/>
          </a:p>
        </p:txBody>
      </p:sp>
      <p:sp>
        <p:nvSpPr>
          <p:cNvPr id="25" name="Text 20"/>
          <p:cNvSpPr txBox="1"/>
          <p:nvPr/>
        </p:nvSpPr>
        <p:spPr>
          <a:xfrm>
            <a:off x="7114032" y="490118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336024" y="3712464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9592056" y="411480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40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490118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AI-assisted features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objectives for the semester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57839" cy="804672"/>
          </a:xfrm>
          <a:prstGeom prst="roundRect">
            <a:avLst>
              <a:gd name="adj" fmla="val 1363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457200" cy="45720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3337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08176" y="1792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17739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 &amp; found recovery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727448" y="1792224"/>
            <a:ext cx="6622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campus-only platform where verified students report lost and found items and get matched to recover them.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2468880"/>
            <a:ext cx="11057839" cy="804672"/>
          </a:xfrm>
          <a:prstGeom prst="roundRect">
            <a:avLst>
              <a:gd name="adj" fmla="val 1363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42616"/>
            <a:ext cx="457200" cy="45720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7660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08176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828800" y="27066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marketplace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727448" y="2724912"/>
            <a:ext cx="6622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structured space to buy, sell, rent or give away second-hand student goods.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3401568"/>
            <a:ext cx="11057839" cy="804672"/>
          </a:xfrm>
          <a:prstGeom prst="roundRect">
            <a:avLst>
              <a:gd name="adj" fmla="val 1363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575304"/>
            <a:ext cx="457200" cy="457200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698748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08176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3639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and safety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4727448" y="3657600"/>
            <a:ext cx="6622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 limited to verified campus members, with safe, accountable in-app communication.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4334256"/>
            <a:ext cx="11057839" cy="804672"/>
          </a:xfrm>
          <a:prstGeom prst="roundRect">
            <a:avLst>
              <a:gd name="adj" fmla="val 1363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4672" y="4507992"/>
            <a:ext cx="457200" cy="45720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631436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08176" y="4590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828800" y="4572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matching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727448" y="4590288"/>
            <a:ext cx="6622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 suggestions pairing lost and found reports on category, keywords and location.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66928" y="5266944"/>
            <a:ext cx="11057839" cy="804672"/>
          </a:xfrm>
          <a:prstGeom prst="roundRect">
            <a:avLst>
              <a:gd name="adj" fmla="val 1363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5440680"/>
            <a:ext cx="457200" cy="45720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556412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08176" y="5522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1828800" y="5504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Moderation and control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4727448" y="5522976"/>
            <a:ext cx="66229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access, community flagging and an admin dashboard keep the platform clean.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and who it serves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257800" cy="4535424"/>
          </a:xfrm>
          <a:prstGeom prst="roundRect">
            <a:avLst>
              <a:gd name="adj" fmla="val 2419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SCOPE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100584" cy="10058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52144" y="20665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Responsive web app for desktop and mobile browsers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606040"/>
            <a:ext cx="100584" cy="10058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2144" y="2523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campus community, one verified login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100584" cy="10058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2144" y="29809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modules and four permission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100584" cy="10058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52144" y="34381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 upload, campus-zone tagging, chat, notifications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977640"/>
            <a:ext cx="100584" cy="10058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52144" y="38953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Moderation queue and an admin analytics dashboard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517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OF SCOPE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4910328"/>
            <a:ext cx="100584" cy="10058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48280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money handling — deals settle in person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5330952"/>
            <a:ext cx="100584" cy="10058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52144" y="5248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native mobile application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5751576"/>
            <a:ext cx="100584" cy="10058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52144" y="5669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Multi-campus federation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35624" y="1517904"/>
            <a:ext cx="5486400" cy="4535424"/>
          </a:xfrm>
          <a:prstGeom prst="roundRect">
            <a:avLst>
              <a:gd name="adj" fmla="val 2419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64808" y="1755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USES 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64808" y="2121408"/>
            <a:ext cx="420624" cy="420624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376" y="2234976"/>
            <a:ext cx="193487" cy="19348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050024" y="2084832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who lost or found something on campus and need to report or claim it.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64808" y="2889504"/>
            <a:ext cx="420624" cy="42062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376" y="3003072"/>
            <a:ext cx="193487" cy="193487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050024" y="2852928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buying, selling, renting or giving away used textbooks, cycles and hostel goods.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64808" y="3657600"/>
            <a:ext cx="420624" cy="42062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76" y="3771168"/>
            <a:ext cx="193487" cy="193487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050024" y="3621024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Graduating or relocating students clearing out belongings at the end of a semester.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64808" y="4425696"/>
            <a:ext cx="420624" cy="420624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376" y="4539264"/>
            <a:ext cx="193487" cy="19348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050024" y="4389120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Faculty and lab assistants who recover misplaced items and need somewhere to log them.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464808" y="5193792"/>
            <a:ext cx="420624" cy="420624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376" y="5307360"/>
            <a:ext cx="193487" cy="193487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050024" y="5157216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administrators and moderators keeping the platform safe and spam-free.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REQUIREMENTS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roles, enforced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72436" cy="3840480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603504" cy="603504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1991746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60320"/>
            <a:ext cx="2023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Guest / Visitor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89504"/>
            <a:ext cx="20237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signed in yet.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47472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PERMISSIONS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59536" y="3840480"/>
            <a:ext cx="91440" cy="9144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78992" y="3767328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a limited public view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9536" y="4315968"/>
            <a:ext cx="91440" cy="9144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78992" y="4242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 or log 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59536" y="4791456"/>
            <a:ext cx="91440" cy="9144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8992" y="4718304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post, claim or message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95396" y="1554480"/>
            <a:ext cx="2572436" cy="3840480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69716" y="1828800"/>
            <a:ext cx="603504" cy="60350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662" y="1991746"/>
            <a:ext cx="277612" cy="2776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69716" y="2560320"/>
            <a:ext cx="2023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Registered User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3669716" y="2889504"/>
            <a:ext cx="20237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student or staff — the core user.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669716" y="347472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PERMISSIONS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688004" y="3840480"/>
            <a:ext cx="91440" cy="9144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907460" y="3767328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reports and listings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688004" y="4315968"/>
            <a:ext cx="91440" cy="9144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907460" y="4242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Search, claim, chat and rate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88004" y="4791456"/>
            <a:ext cx="91440" cy="9144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907460" y="4718304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own profile and posts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223864" y="1554480"/>
            <a:ext cx="2572436" cy="3840480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98184" y="1828800"/>
            <a:ext cx="603504" cy="603504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130" y="1991746"/>
            <a:ext cx="277612" cy="2776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98184" y="2560320"/>
            <a:ext cx="2023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Moderator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6498184" y="2889504"/>
            <a:ext cx="20237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trusted reviewer of reported content.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498184" y="347472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PERMISSIONS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516472" y="3840480"/>
            <a:ext cx="91440" cy="9144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735928" y="3767328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 or remove flagged posts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516472" y="4315968"/>
            <a:ext cx="91440" cy="9144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735928" y="4242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Mediate claim disputes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516472" y="4791456"/>
            <a:ext cx="91440" cy="9144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735928" y="4718304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Issue warnings and strikes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9052331" y="1554480"/>
            <a:ext cx="2572436" cy="3840480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9326651" y="1828800"/>
            <a:ext cx="603504" cy="603504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597" y="1991746"/>
            <a:ext cx="277612" cy="277612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326651" y="2560320"/>
            <a:ext cx="2023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</a:t>
            </a:r>
            <a:endParaRPr lang="en-US" sz="1450" dirty="0"/>
          </a:p>
        </p:txBody>
      </p:sp>
      <p:sp>
        <p:nvSpPr>
          <p:cNvPr id="44" name="Text 38"/>
          <p:cNvSpPr txBox="1"/>
          <p:nvPr/>
        </p:nvSpPr>
        <p:spPr>
          <a:xfrm>
            <a:off x="9326651" y="2889504"/>
            <a:ext cx="20237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owner.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9326651" y="347472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PERMISSIONS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9344939" y="3840480"/>
            <a:ext cx="91440" cy="9144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9564395" y="3767328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users and assign roles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9344939" y="4315968"/>
            <a:ext cx="91440" cy="9144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564395" y="4242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the analytics dashboard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9344939" y="4791456"/>
            <a:ext cx="91440" cy="9144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564395" y="4718304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 categories and zones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566928" y="5559552"/>
            <a:ext cx="11057839" cy="731520"/>
          </a:xfrm>
          <a:prstGeom prst="roundRect">
            <a:avLst>
              <a:gd name="adj" fmla="val 15000"/>
            </a:avLst>
          </a:prstGeom>
          <a:solidFill>
            <a:srgbClr val="EDE4F9"/>
          </a:solidFill>
          <a:ln w="12700">
            <a:solidFill>
              <a:srgbClr val="DFD2F2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3" name="Text 47"/>
          <p:cNvSpPr txBox="1"/>
          <p:nvPr/>
        </p:nvSpPr>
        <p:spPr>
          <a:xfrm>
            <a:off x="932688" y="5742432"/>
            <a:ext cx="10326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 live as Firebase custom claims (auth.token.role) and are checked again inside Firestore Security Rules — the client never decides its own permissions.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REQUIREMENTS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functional requirements, five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90874" cy="2377440"/>
          </a:xfrm>
          <a:prstGeom prst="roundRect">
            <a:avLst>
              <a:gd name="adj" fmla="val 4615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0512"/>
            <a:ext cx="512064" cy="512064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505" y="1948769"/>
            <a:ext cx="235549" cy="2355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86202" y="186537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86202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 → FR-5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68880"/>
            <a:ext cx="294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&amp; User Management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072384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requirements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310128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Campus-email registration, verification, secure sessions, profiles and roles.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50410" y="1554480"/>
            <a:ext cx="3490874" cy="2377440"/>
          </a:xfrm>
          <a:prstGeom prst="roundRect">
            <a:avLst>
              <a:gd name="adj" fmla="val 4615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24730" y="1810512"/>
            <a:ext cx="512064" cy="51206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988" y="1948769"/>
            <a:ext cx="235549" cy="23554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69685" y="186537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69685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FR-6 → FR-11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624730" y="2468880"/>
            <a:ext cx="294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 &amp; Found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24730" y="3072384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requirements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624730" y="3310128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lost and found items, tag campus zones, receive suggested matches, claim and resolve.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3893" y="1554480"/>
            <a:ext cx="3490874" cy="2377440"/>
          </a:xfrm>
          <a:prstGeom prst="roundRect">
            <a:avLst>
              <a:gd name="adj" fmla="val 4615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08213" y="1810512"/>
            <a:ext cx="512064" cy="51206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470" y="1948769"/>
            <a:ext cx="235549" cy="23554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253167" y="186537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0253167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FR-12 → FR-16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8408213" y="2468880"/>
            <a:ext cx="29422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08213" y="3072384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requirements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408213" y="3310128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listings, browse and filter, handshake a deal, archive sold items, keep a watchlist.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66928" y="4133088"/>
            <a:ext cx="5382616" cy="1783080"/>
          </a:xfrm>
          <a:prstGeom prst="roundRect">
            <a:avLst>
              <a:gd name="adj" fmla="val 6154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41248" y="4389120"/>
            <a:ext cx="512064" cy="512064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05" y="4527377"/>
            <a:ext cx="235549" cy="235549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577944" y="44439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77944" y="4443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FR-17 → FR-20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1481328" y="4425696"/>
            <a:ext cx="2913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Communication &amp; Trust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1481328" y="4736592"/>
            <a:ext cx="291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requirements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841248" y="5175504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Item-linked chat, post-exchange ratings, content flagging and live notifications.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242152" y="4133088"/>
            <a:ext cx="5382616" cy="1783080"/>
          </a:xfrm>
          <a:prstGeom prst="roundRect">
            <a:avLst>
              <a:gd name="adj" fmla="val 6154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516472" y="4389120"/>
            <a:ext cx="512064" cy="512064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729" y="4527377"/>
            <a:ext cx="235549" cy="235549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253167" y="44439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253167" y="4443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FR-21 → FR-24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7156552" y="4425696"/>
            <a:ext cx="2913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Administration &amp; Moderation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7156552" y="4736592"/>
            <a:ext cx="2913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requirements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6516472" y="5175504"/>
            <a:ext cx="4833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flagged content, manage users and roles, analytics, categories and campus zones.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REQUIREMENTS · FUNCTIONAL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and Lost &amp; Found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257800" cy="4663440"/>
          </a:xfrm>
          <a:prstGeom prst="roundRect">
            <a:avLst>
              <a:gd name="adj" fmla="val 2353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37360"/>
            <a:ext cx="438912" cy="438912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30" y="1855866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7922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&amp; User Management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41401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shall register with a valid campus email address and verify it before accessing full features.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14553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shall log in and log out securely, with passwords stored in hashed form.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87705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FR-3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shall reset a forgotten password through an emailed link.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460857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FR-4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user shall have an editable profile — name, hostel or department, contact preference and photo.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5340096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FR-5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shall assign roles (User, Moderator, Admin) and restrict features accordingly.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35624" y="1481328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1737360"/>
            <a:ext cx="438912" cy="438912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026" y="1855866"/>
            <a:ext cx="201900" cy="201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13448" y="1792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 &amp; Found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464808" y="241401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FR-6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shall post a lost-item report with title, description, category, date, last-seen location and an optional image.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464808" y="3035808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FR-7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shall post a found-item report with the item's details, its current location and an image.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464808" y="36576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FR-8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shall let users tag a location on a map or select from a list of campus zones.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464808" y="4279392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FR-9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shall suggest possible matches between lost and found reports using category, keywords and location.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464808" y="4901184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FR-10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user shall raise a claim on a found item; the finder shall approve or reject that claim.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464808" y="5522976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FR-11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shall mark an item 'Returned' or 'Resolved', which closes the report.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REQUIREMENTS · FUNCTIONAL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Marketplace, trust and administration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03066" cy="4663440"/>
          </a:xfrm>
          <a:prstGeom prst="roundRect">
            <a:avLst>
              <a:gd name="adj" fmla="val 313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37360"/>
            <a:ext cx="420624" cy="42062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816" y="1850928"/>
            <a:ext cx="193487" cy="193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267712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06624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FR-12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a listing with title, description, category, condition, price (or Free / For rent) and images.</a:t>
            </a:r>
            <a:endParaRPr lang="en-US" sz="98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38328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FR-13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Browse, search and filter listings by category, price range, condition and keyword.</a:t>
            </a:r>
            <a:endParaRPr lang="en-US" sz="98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059936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FR-14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 a listing 'Sold' or delete it; sold items are archived, not shown in active search.</a:t>
            </a:r>
            <a:endParaRPr lang="en-US" sz="98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736592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FR-15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Simulate a transaction handshake so buyer and seller confirm a deal — no payment gateway.</a:t>
            </a:r>
            <a:endParaRPr lang="en-US" sz="98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5413248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FR-16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Bookmark listings and lost/found posts to a personal watchlist.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344314" y="1481328"/>
            <a:ext cx="3503066" cy="4663440"/>
          </a:xfrm>
          <a:prstGeom prst="roundRect">
            <a:avLst>
              <a:gd name="adj" fmla="val 313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8634" y="1737360"/>
            <a:ext cx="420624" cy="420624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03" y="1850928"/>
            <a:ext cx="193487" cy="1934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18634" y="2267712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Communication &amp; Trust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618634" y="2706624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FR-17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Exchange messages through an in-app chat tied to a specific item or listing.</a:t>
            </a:r>
            <a:endParaRPr lang="en-US" sz="98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38328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FR-18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and review the other party after a completed exchange.</a:t>
            </a:r>
            <a:endParaRPr lang="en-US" sz="980" dirty="0"/>
          </a:p>
        </p:txBody>
      </p:sp>
      <p:sp>
        <p:nvSpPr>
          <p:cNvPr id="19" name="Text 15"/>
          <p:cNvSpPr txBox="1"/>
          <p:nvPr/>
        </p:nvSpPr>
        <p:spPr>
          <a:xfrm>
            <a:off x="4618634" y="4059936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FR-19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 or flag suspicious posts, spam or inappropriate content.</a:t>
            </a:r>
            <a:endParaRPr lang="en-US" sz="980" dirty="0"/>
          </a:p>
        </p:txBody>
      </p:sp>
      <p:sp>
        <p:nvSpPr>
          <p:cNvPr id="20" name="Text 16"/>
          <p:cNvSpPr txBox="1"/>
          <p:nvPr/>
        </p:nvSpPr>
        <p:spPr>
          <a:xfrm>
            <a:off x="4618634" y="4736592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FR-20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Send notifications for new matches, claims, messages and status changes.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8121701" y="1481328"/>
            <a:ext cx="3503066" cy="4663440"/>
          </a:xfrm>
          <a:prstGeom prst="roundRect">
            <a:avLst>
              <a:gd name="adj" fmla="val 313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396021" y="1737360"/>
            <a:ext cx="420624" cy="420624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589" y="1850928"/>
            <a:ext cx="193487" cy="19348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96021" y="2267712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Administration &amp; Moderation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396021" y="2706624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FR-21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Moderators shall review flagged content and approve, hide or remove it.</a:t>
            </a:r>
            <a:endParaRPr lang="en-US" sz="980" dirty="0"/>
          </a:p>
        </p:txBody>
      </p:sp>
      <p:sp>
        <p:nvSpPr>
          <p:cNvPr id="26" name="Text 21"/>
          <p:cNvSpPr txBox="1"/>
          <p:nvPr/>
        </p:nvSpPr>
        <p:spPr>
          <a:xfrm>
            <a:off x="8396021" y="338328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FR-22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Administrators shall manage users, assign roles and suspend accounts.</a:t>
            </a:r>
            <a:endParaRPr lang="en-US" sz="980" dirty="0"/>
          </a:p>
        </p:txBody>
      </p:sp>
      <p:sp>
        <p:nvSpPr>
          <p:cNvPr id="27" name="Text 22"/>
          <p:cNvSpPr txBox="1"/>
          <p:nvPr/>
        </p:nvSpPr>
        <p:spPr>
          <a:xfrm>
            <a:off x="8396021" y="4059936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FR-23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Administrators shall view an analytics dashboard — active listings, resolved items, user activity.</a:t>
            </a:r>
            <a:endParaRPr lang="en-US" sz="980" dirty="0"/>
          </a:p>
        </p:txBody>
      </p:sp>
      <p:sp>
        <p:nvSpPr>
          <p:cNvPr id="28" name="Text 23"/>
          <p:cNvSpPr txBox="1"/>
          <p:nvPr/>
        </p:nvSpPr>
        <p:spPr>
          <a:xfrm>
            <a:off x="8396021" y="4736592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FR-24   </a:t>
            </a:r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Administrators shall manage the list of item categories and campus zones.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REQUIREMENTS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context — who interacts with FoundIt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22376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pic>
        <p:nvPicPr>
          <p:cNvPr id="5" name="Image 0" descr="/home/user/FoundIt/assets/dfd(l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0784"/>
            <a:ext cx="6894576" cy="3959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01584" y="1481328"/>
            <a:ext cx="3523183" cy="1097280"/>
          </a:xfrm>
          <a:prstGeom prst="roundRect">
            <a:avLst>
              <a:gd name="adj" fmla="val 10000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39328" y="1700784"/>
            <a:ext cx="402336" cy="40233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959" y="1809415"/>
            <a:ext cx="185075" cy="185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69680" y="1682496"/>
            <a:ext cx="2517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/ Staff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339328" y="2029968"/>
            <a:ext cx="3047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Registers, posts lost and found items, lists goods, searches, claims and chats.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8101584" y="2670048"/>
            <a:ext cx="3523183" cy="1097280"/>
          </a:xfrm>
          <a:prstGeom prst="roundRect">
            <a:avLst>
              <a:gd name="adj" fmla="val 10000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339328" y="2889504"/>
            <a:ext cx="402336" cy="402336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959" y="2998135"/>
            <a:ext cx="185075" cy="1850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69680" y="2871216"/>
            <a:ext cx="2517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Moderator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339328" y="3218688"/>
            <a:ext cx="3047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Receives flagged content, then reviews, approves or removes the post.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8101584" y="3858768"/>
            <a:ext cx="3523183" cy="1097280"/>
          </a:xfrm>
          <a:prstGeom prst="roundRect">
            <a:avLst>
              <a:gd name="adj" fmla="val 10000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39328" y="4078224"/>
            <a:ext cx="402336" cy="402336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959" y="4186855"/>
            <a:ext cx="185075" cy="18507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869680" y="4059936"/>
            <a:ext cx="2517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339328" y="4407408"/>
            <a:ext cx="3047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Manages users, roles and categories, and reads the analytics dashboard.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101584" y="5047488"/>
            <a:ext cx="3523183" cy="1097280"/>
          </a:xfrm>
          <a:prstGeom prst="roundRect">
            <a:avLst>
              <a:gd name="adj" fmla="val 10000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339328" y="5266944"/>
            <a:ext cx="402336" cy="402336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959" y="5375575"/>
            <a:ext cx="185075" cy="18507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869680" y="5248656"/>
            <a:ext cx="25173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store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39328" y="5596128"/>
            <a:ext cx="30476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read and write passes through Security Rules before reaching Firestore.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REQUIREMENTS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Nine quality attributes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365760" cy="36576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854403"/>
            <a:ext cx="168250" cy="1682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792224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212848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Responsive and mobile-first. Posting an item or searching takes no more than three clicks.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32122" y="1536192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9866" y="1755648"/>
            <a:ext cx="365760" cy="36576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622" y="1854403"/>
            <a:ext cx="168250" cy="1682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7066" y="1792224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69866" y="2212848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Pages and search return in about two seconds; images are compressed on upload.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097317" y="1536192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5061" y="1755648"/>
            <a:ext cx="365760" cy="36576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816" y="1854403"/>
            <a:ext cx="168250" cy="1682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92261" y="1792224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35061" y="2212848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Indexed queries and pagination carry several thousand users without a redesign.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66928" y="3200400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419856"/>
            <a:ext cx="365760" cy="365760"/>
          </a:xfrm>
          <a:prstGeom prst="ellipse">
            <a:avLst/>
          </a:prstGeom>
          <a:solidFill>
            <a:srgbClr val="F8D7E1"/>
          </a:solidFill>
          <a:ln w="12700">
            <a:solidFill>
              <a:srgbClr val="F8D7E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3518611"/>
            <a:ext cx="168250" cy="16825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3456432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3877056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Hashed passwords, token sessions, role-based access and inputs validated against injection.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32122" y="3200400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69866" y="3419856"/>
            <a:ext cx="365760" cy="36576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622" y="3518611"/>
            <a:ext cx="168250" cy="16825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27066" y="3456432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69866" y="3877056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 details stay private by default; users talk in-app. Campus-verified accounts only.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097317" y="3200400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5061" y="3419856"/>
            <a:ext cx="365760" cy="365760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816" y="3518611"/>
            <a:ext cx="168250" cy="16825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792261" y="3456432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335061" y="3877056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99% uptime target through the demo period, with graceful and readable error handling.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66928" y="4864608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4672" y="5084064"/>
            <a:ext cx="365760" cy="36576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27" y="5182819"/>
            <a:ext cx="168250" cy="16825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61872" y="5120640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804672" y="554126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Modular, documented code with a clear split between UI, data layer and backend.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4332122" y="4864608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69866" y="5084064"/>
            <a:ext cx="365760" cy="36576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8622" y="5182819"/>
            <a:ext cx="168250" cy="16825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027066" y="5120640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Compatibility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4569866" y="554126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Chrome, Firefox and Edge, plus Android and iOS mobile browsers.</a:t>
            </a:r>
            <a:endParaRPr lang="en-US" sz="980" dirty="0"/>
          </a:p>
        </p:txBody>
      </p:sp>
      <p:sp>
        <p:nvSpPr>
          <p:cNvPr id="44" name="Shape 34"/>
          <p:cNvSpPr/>
          <p:nvPr/>
        </p:nvSpPr>
        <p:spPr>
          <a:xfrm>
            <a:off x="8097317" y="4864608"/>
            <a:ext cx="3527450" cy="1481328"/>
          </a:xfrm>
          <a:prstGeom prst="roundRect">
            <a:avLst>
              <a:gd name="adj" fmla="val 7407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35061" y="5084064"/>
            <a:ext cx="365760" cy="36576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3816" y="5182819"/>
            <a:ext cx="168250" cy="16825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792261" y="5120640"/>
            <a:ext cx="2613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8335061" y="554126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Readable contrast, alt text on images and keyboard-navigable forms throughout.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7839" cy="1389888"/>
          </a:xfrm>
          <a:prstGeom prst="roundRect">
            <a:avLst>
              <a:gd name="adj" fmla="val 7895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20240"/>
            <a:ext cx="566928" cy="566928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07" y="20733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311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Client-rendered SPA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70248" y="1865376"/>
            <a:ext cx="958291" cy="347472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70248" y="1865376"/>
            <a:ext cx="9582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65699" y="1865376"/>
            <a:ext cx="801014" cy="347472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65699" y="1865376"/>
            <a:ext cx="8010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 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3874" y="1865376"/>
            <a:ext cx="1980590" cy="347472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3874" y="1865376"/>
            <a:ext cx="19805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CSS Custom Properties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21624" y="1865376"/>
            <a:ext cx="1272845" cy="347472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21624" y="1865376"/>
            <a:ext cx="12728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Lucide Icons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70248" y="2286000"/>
            <a:ext cx="1823314" cy="347472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70248" y="2286000"/>
            <a:ext cx="18233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listeners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30722" y="2286000"/>
            <a:ext cx="1901952" cy="347472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30722" y="22860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Dark / light theming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3127248"/>
            <a:ext cx="11057839" cy="1389888"/>
          </a:xfrm>
          <a:prstGeom prst="roundRect">
            <a:avLst>
              <a:gd name="adj" fmla="val 7895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9536" y="3493008"/>
            <a:ext cx="566928" cy="566928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07" y="3646079"/>
            <a:ext cx="260787" cy="26078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55448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 Data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155448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Serverless, event-driven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270248" y="3438144"/>
            <a:ext cx="1351483" cy="347472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270248" y="3438144"/>
            <a:ext cx="1351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758891" y="3438144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758891" y="34381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Firestore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404811" y="3438144"/>
            <a:ext cx="1351483" cy="347472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404811" y="3438144"/>
            <a:ext cx="1351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Storage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270248" y="3858768"/>
            <a:ext cx="2531059" cy="347472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270248" y="3858768"/>
            <a:ext cx="25310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Functions v2 (Node 22)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938467" y="3858768"/>
            <a:ext cx="1430122" cy="347472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938467" y="3858768"/>
            <a:ext cx="14301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Rules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66928" y="4700016"/>
            <a:ext cx="11057839" cy="1389888"/>
          </a:xfrm>
          <a:prstGeom prst="roundRect">
            <a:avLst>
              <a:gd name="adj" fmla="val 7895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859536" y="5065776"/>
            <a:ext cx="566928" cy="566928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07" y="5218847"/>
            <a:ext cx="260787" cy="260787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554480" y="5065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&amp; Intelligence</a:t>
            </a:r>
            <a:endParaRPr lang="en-US" sz="1450" dirty="0"/>
          </a:p>
        </p:txBody>
      </p:sp>
      <p:sp>
        <p:nvSpPr>
          <p:cNvPr id="40" name="Text 35"/>
          <p:cNvSpPr txBox="1"/>
          <p:nvPr/>
        </p:nvSpPr>
        <p:spPr>
          <a:xfrm>
            <a:off x="1554480" y="5376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Hosting, tooling, external APIs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270248" y="5010912"/>
            <a:ext cx="801014" cy="347472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4270248" y="5010912"/>
            <a:ext cx="8010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208422" y="5010912"/>
            <a:ext cx="2137867" cy="347472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5208422" y="5010912"/>
            <a:ext cx="2137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Emulator Suite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7483450" y="5010912"/>
            <a:ext cx="1272845" cy="347472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7483450" y="5010912"/>
            <a:ext cx="12728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+ GitHub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8893454" y="5010912"/>
            <a:ext cx="1587398" cy="347472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893454" y="5010912"/>
            <a:ext cx="15873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1.5 Flash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270248" y="5431536"/>
            <a:ext cx="1351483" cy="347472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4270248" y="5431536"/>
            <a:ext cx="13514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OpenMeteo API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Event-driven at the 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468880" cy="1207008"/>
          </a:xfrm>
          <a:prstGeom prst="roundRect">
            <a:avLst>
              <a:gd name="adj" fmla="val 9091"/>
            </a:avLst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890979"/>
            <a:ext cx="168250" cy="1682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2128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action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4597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Post, claim, flag, confirm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18104" y="2103120"/>
            <a:ext cx="237744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72768"/>
            <a:ext cx="2468880" cy="1207008"/>
          </a:xfrm>
          <a:prstGeom prst="roundRect">
            <a:avLst>
              <a:gd name="adj" fmla="val 9091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6744" y="1792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99" y="1890979"/>
            <a:ext cx="168250" cy="1682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66744" y="22128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Firestore write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666744" y="24597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 created or changed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80176" y="2103120"/>
            <a:ext cx="237744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1072" y="1572768"/>
            <a:ext cx="2468880" cy="1207008"/>
          </a:xfrm>
          <a:prstGeom prst="roundRect">
            <a:avLst>
              <a:gd name="adj" fmla="val 9091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28816" y="1792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1" y="1890979"/>
            <a:ext cx="168250" cy="1682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28816" y="22128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Function trigger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528816" y="24597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onDocumentWritten / onCall fires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842248" y="2103120"/>
            <a:ext cx="237744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53144" y="1572768"/>
            <a:ext cx="2468880" cy="1207008"/>
          </a:xfrm>
          <a:prstGeom prst="roundRect">
            <a:avLst>
              <a:gd name="adj" fmla="val 9091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90888" y="1792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643" y="1890979"/>
            <a:ext cx="168250" cy="16825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90888" y="22128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Side effects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390888" y="245973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Scores, statuses, notifications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66928" y="3145536"/>
            <a:ext cx="536432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77824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CQRS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877824" y="3602736"/>
            <a:ext cx="474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Command path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877824" y="3913632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client writes items, claims, listings, reviews and flags straight into Firestore. It never computes anything the system will later trust.</a:t>
            </a:r>
            <a:endParaRPr lang="en-US" sz="1080" dirty="0"/>
          </a:p>
        </p:txBody>
      </p:sp>
      <p:sp>
        <p:nvSpPr>
          <p:cNvPr id="31" name="Shape 25"/>
          <p:cNvSpPr/>
          <p:nvPr/>
        </p:nvSpPr>
        <p:spPr>
          <a:xfrm>
            <a:off x="6260440" y="3145536"/>
            <a:ext cx="536432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6571336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CQRS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6571336" y="3602736"/>
            <a:ext cx="474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Query path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571336" y="3913632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client reads denormalised feed documents through onSnapshot listeners, so every connected screen updates the moment the data changes.</a:t>
            </a:r>
            <a:endParaRPr lang="en-US" sz="1080" dirty="0"/>
          </a:p>
        </p:txBody>
      </p:sp>
      <p:sp>
        <p:nvSpPr>
          <p:cNvPr id="35" name="Shape 29"/>
          <p:cNvSpPr/>
          <p:nvPr/>
        </p:nvSpPr>
        <p:spPr>
          <a:xfrm>
            <a:off x="566928" y="4773168"/>
            <a:ext cx="11057839" cy="1261872"/>
          </a:xfrm>
          <a:prstGeom prst="roundRect">
            <a:avLst>
              <a:gd name="adj" fmla="val 8696"/>
            </a:avLst>
          </a:prstGeom>
          <a:solidFill>
            <a:srgbClr val="EDE4F9"/>
          </a:solidFill>
          <a:ln w="12700">
            <a:solidFill>
              <a:srgbClr val="DFD2F2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950976" y="5047488"/>
            <a:ext cx="102897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client writes data; the server reacts. Trust scores, match scores and item statuses are computed only inside Cloud Functions and written back to the document — Firestore rules reject any client write that tries to change them.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 system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08176"/>
            <a:ext cx="11057839" cy="1499616"/>
          </a:xfrm>
          <a:prstGeom prst="roundRect">
            <a:avLst>
              <a:gd name="adj" fmla="val 7317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9105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614" y="1674998"/>
            <a:ext cx="143012" cy="1430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1609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 — React 19 single-page app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" y="1975104"/>
            <a:ext cx="10618927" cy="207264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1975104"/>
            <a:ext cx="10253167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Presentation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 components · AuthContext identity facade · hooks (useFeed, useNotifications)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6384" y="2255520"/>
            <a:ext cx="10618927" cy="207264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9264" y="2255520"/>
            <a:ext cx="10253167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access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lib/*.js repositories — feed · claims · deals · chat · flags · notifications · ai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86384" y="2535936"/>
            <a:ext cx="10618927" cy="207264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35936"/>
            <a:ext cx="10253167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SDK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JS SDK — firestore · auth · storage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13552" y="2962656"/>
            <a:ext cx="155448" cy="201168"/>
          </a:xfrm>
          <a:prstGeom prst="down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0440" y="2962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  /  WebSocket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" y="3163824"/>
            <a:ext cx="11057839" cy="1993392"/>
          </a:xfrm>
          <a:prstGeom prst="roundRect">
            <a:avLst>
              <a:gd name="adj" fmla="val 5505"/>
            </a:avLst>
          </a:prstGeom>
          <a:solidFill>
            <a:srgbClr val="E5F3EC"/>
          </a:solidFill>
          <a:ln w="12700">
            <a:solidFill>
              <a:srgbClr val="E5F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334670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14" y="3430646"/>
            <a:ext cx="143012" cy="1430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07008" y="33649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PLATFORM — managed backend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86384" y="3730752"/>
            <a:ext cx="10618927" cy="371856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9264" y="3730752"/>
            <a:ext cx="102531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Managed services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· Cloud Firestore · Cloud Storage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86384" y="4175760"/>
            <a:ext cx="10618927" cy="371856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9264" y="4175760"/>
            <a:ext cx="102531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Functions v2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suggestMatches · onClaimCreated · onClaimResolved · onReviewCreated · onFlagCreated · confirmTransaction · resolveFlag · recomputeTrustScore · setUserRole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86384" y="4620768"/>
            <a:ext cx="10618927" cy="371856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9264" y="4620768"/>
            <a:ext cx="102531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Gateway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Rules — firestore.rules · storage.rules screen every read and write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013552" y="5212080"/>
            <a:ext cx="155448" cy="201168"/>
          </a:xfrm>
          <a:prstGeom prst="down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260440" y="5212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12000"/>
            </a:avLst>
          </a:prstGeom>
          <a:solidFill>
            <a:srgbClr val="FCEFE5"/>
          </a:solidFill>
          <a:ln w="12700">
            <a:solidFill>
              <a:srgbClr val="FCEF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4672" y="5596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14" y="5680070"/>
            <a:ext cx="143012" cy="14301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207008" y="56144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APIS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86384" y="5888736"/>
            <a:ext cx="10618927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69264" y="5888736"/>
            <a:ext cx="102531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Gemini 1.5 Flash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and vision, with a deterministic local fallback     ·     OpenMeteo   weather context for lost-item advice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Patterns doing the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73936"/>
            <a:ext cx="457200" cy="45720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897380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35915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8833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Firestore document writes trigger Cloud Functions, which propagate every side effect.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95396" y="153619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1428" y="1773936"/>
            <a:ext cx="457200" cy="45720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872" y="1897380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1428" y="235915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CQRS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651428" y="268833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Clients command by writing data; computed fields are written back only by the server.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223864" y="153619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9896" y="1773936"/>
            <a:ext cx="457200" cy="45720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1897380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79896" y="235915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479896" y="268833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lib/*.js wraps every Firestore call, so components never touch the SDK directly.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9052331" y="153619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363" y="1773936"/>
            <a:ext cx="457200" cy="457200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807" y="1897380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08363" y="235915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Observer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308363" y="268833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onSnapshot pushes feed, chat and notification changes to every connected client.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66928" y="373075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3968496"/>
            <a:ext cx="457200" cy="457200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091940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22960" y="455371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Strategy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488289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AI function tries Gemini first, then falls back to a deterministic local path.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3395396" y="373075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1428" y="3968496"/>
            <a:ext cx="457200" cy="457200"/>
          </a:xfrm>
          <a:prstGeom prst="ellipse">
            <a:avLst/>
          </a:prstGeom>
          <a:solidFill>
            <a:srgbClr val="F8D7E1"/>
          </a:solidFill>
          <a:ln w="12700">
            <a:solidFill>
              <a:srgbClr val="F8D7E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4872" y="4091940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51428" y="455371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Machine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651428" y="488289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Items move open → matched → claimed → resolved; listings active → sold.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6223864" y="373075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79896" y="3968496"/>
            <a:ext cx="457200" cy="45720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091940"/>
            <a:ext cx="210312" cy="21031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79896" y="455371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Saga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79896" y="4882896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confirmTransaction needs both buyer and seller before a listing is marked sold.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9052331" y="3730752"/>
            <a:ext cx="2572436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308363" y="3968496"/>
            <a:ext cx="457200" cy="457200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1807" y="4091940"/>
            <a:ext cx="210312" cy="21031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08363" y="4553712"/>
            <a:ext cx="2060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Chain of Responsibility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9308363" y="4919472"/>
            <a:ext cx="20603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Flags accumulate, auto-hide the post at threshold, then escalate to a moderator.</a:t>
            </a:r>
            <a:endParaRPr lang="en-US" sz="980" dirty="0"/>
          </a:p>
        </p:txBody>
      </p:sp>
      <p:sp>
        <p:nvSpPr>
          <p:cNvPr id="44" name="Shape 34"/>
          <p:cNvSpPr/>
          <p:nvPr/>
        </p:nvSpPr>
        <p:spPr>
          <a:xfrm>
            <a:off x="566928" y="5870448"/>
            <a:ext cx="11057839" cy="530352"/>
          </a:xfrm>
          <a:prstGeom prst="roundRect">
            <a:avLst>
              <a:gd name="adj" fmla="val 20690"/>
            </a:avLst>
          </a:prstGeom>
          <a:solidFill>
            <a:srgbClr val="EDE4F9"/>
          </a:solidFill>
          <a:ln w="12700">
            <a:solidFill>
              <a:srgbClr val="DFD2F2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932688" y="5998464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Also in play — Gateway (Security Rules screen every read and write) and Facade (AuthContext merges Firebase Auth with the user profile into one identity).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Firestore data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7223760" cy="4754880"/>
          </a:xfrm>
          <a:prstGeom prst="roundRect">
            <a:avLst>
              <a:gd name="adj" fmla="val 2308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719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36976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 SHAPE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8096" y="2048256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0482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users/{uid}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36976" y="2048256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 · email · hostelOrDept · trustScore · trustTier · role · ratingAvg · ratingCount · resolvedCount · strikes · verified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68096" y="2651760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6517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lostFoundItems/{id}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265176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 · title · description · category · keywords · location · imageURLs · status · postedBy · matchedWith · matchScore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68096" y="3255264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2552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…/claims/{cid}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36976" y="3255264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claimantUid · message · status · proofURLs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68096" y="3858768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" y="38587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listings/{id}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36976" y="3858768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· description · price · priceType · condition · category · sellerUid · status · imageURLs · trustScore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68096" y="4462272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4622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reviews/{id}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36976" y="4462272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raterUid · rateeUid · rating · comment · contextRef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68096" y="5065776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" y="50657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notifications/{id}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36976" y="5065776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userId · type · message · contextRef · read · createdAt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68096" y="5669280"/>
            <a:ext cx="6821424" cy="530352"/>
          </a:xfrm>
          <a:prstGeom prst="roundRect">
            <a:avLst>
              <a:gd name="adj" fmla="val 13793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" y="56692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4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flags/{id}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36976" y="5669280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targetRef · reporterUid · reason · status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101584" y="1481328"/>
            <a:ext cx="3523183" cy="2606040"/>
          </a:xfrm>
          <a:prstGeom prst="roundRect">
            <a:avLst>
              <a:gd name="adj" fmla="val 4211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57616" y="1719072"/>
            <a:ext cx="402336" cy="40233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6247" y="1827703"/>
            <a:ext cx="185075" cy="185075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357616" y="2249424"/>
            <a:ext cx="3011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Denormalisation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57616" y="2578608"/>
            <a:ext cx="301111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 documents carry the poster's name, department, trust score and verified flag, so a 50-item feed needs no extra user reads. Firestore has no joins — the authoritative trust value still lives on users/{uid} and is recomputed server-side.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8101584" y="4288536"/>
            <a:ext cx="3523183" cy="1947672"/>
          </a:xfrm>
          <a:prstGeom prst="roundRect">
            <a:avLst>
              <a:gd name="adj" fmla="val 5634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357616" y="4526280"/>
            <a:ext cx="402336" cy="402336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247" y="4634911"/>
            <a:ext cx="185075" cy="18507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8357616" y="5056632"/>
            <a:ext cx="3011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Indexing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8357616" y="5385816"/>
            <a:ext cx="30111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 fields are auto-indexed. Composite indexes in firestore.indexes.json cover notifications by userId + createdAt (desc) and reviews by rateeUid + createdAt.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flow — level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7607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pic>
        <p:nvPicPr>
          <p:cNvPr id="5" name="Image 0" descr="/home/user/FoundIt/assets/dfd(l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664208"/>
            <a:ext cx="4992624" cy="4453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38544" y="1481328"/>
            <a:ext cx="4986223" cy="859536"/>
          </a:xfrm>
          <a:prstGeom prst="roundRect">
            <a:avLst>
              <a:gd name="adj" fmla="val 127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0" y="1700784"/>
            <a:ext cx="420624" cy="420624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636776"/>
            <a:ext cx="3980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&amp; User Management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1901952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 and log in, store and retrieve the user record, return the auth result.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38544" y="2450592"/>
            <a:ext cx="4986223" cy="859536"/>
          </a:xfrm>
          <a:prstGeom prst="roundRect">
            <a:avLst>
              <a:gd name="adj" fmla="val 127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0" y="2670048"/>
            <a:ext cx="420624" cy="42062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606040"/>
            <a:ext cx="3980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 &amp; Found Management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871216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lost and found reports in, save item records, return matching results and claim status.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38544" y="3419856"/>
            <a:ext cx="4986223" cy="859536"/>
          </a:xfrm>
          <a:prstGeom prst="roundRect">
            <a:avLst>
              <a:gd name="adj" fmla="val 127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0" y="3639312"/>
            <a:ext cx="420624" cy="42062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575304"/>
            <a:ext cx="3980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Management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3840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listings, save them, serve browse and search results back to the user.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38544" y="4389120"/>
            <a:ext cx="4986223" cy="859536"/>
          </a:xfrm>
          <a:prstGeom prst="roundRect">
            <a:avLst>
              <a:gd name="adj" fmla="val 127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0" y="4608576"/>
            <a:ext cx="420624" cy="420624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4544568"/>
            <a:ext cx="3980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 &amp; Notifications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4809744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and retrieve messages, push notifications on matches, claims and status changes.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638544" y="5358384"/>
            <a:ext cx="4986223" cy="859536"/>
          </a:xfrm>
          <a:prstGeom prst="roundRect">
            <a:avLst>
              <a:gd name="adj" fmla="val 127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858000" y="5577840"/>
            <a:ext cx="420624" cy="420624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0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5513832"/>
            <a:ext cx="3980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Management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406640" y="5779008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reports, manage users, roles and categories, and feed the analytics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Defence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760720" cy="731520"/>
          </a:xfrm>
          <a:prstGeom prst="roundRect">
            <a:avLst>
              <a:gd name="adj" fmla="val 15000"/>
            </a:avLst>
          </a:prstGeom>
          <a:solidFill>
            <a:srgbClr val="F2ECFA"/>
          </a:solidFill>
          <a:ln w="12700">
            <a:solidFill>
              <a:srgbClr val="F2ECFA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2821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673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signedIn()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19293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request must carry an authenticated Firebase session.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66928" y="2414016"/>
            <a:ext cx="5760720" cy="731520"/>
          </a:xfrm>
          <a:prstGeom prst="roundRect">
            <a:avLst>
              <a:gd name="adj" fmla="val 15000"/>
            </a:avLst>
          </a:prstGeom>
          <a:solidFill>
            <a:srgbClr val="EDE4F8"/>
          </a:solidFill>
          <a:ln w="12700">
            <a:solidFill>
              <a:srgbClr val="EDE4F8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5877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5328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isVerified()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788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campus email address must be verified before any write.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3273552"/>
            <a:ext cx="5760720" cy="731520"/>
          </a:xfrm>
          <a:prstGeom prst="roundRect">
            <a:avLst>
              <a:gd name="adj" fmla="val 15000"/>
            </a:avLst>
          </a:prstGeom>
          <a:solidFill>
            <a:srgbClr val="E7DBF5"/>
          </a:solidFill>
          <a:ln w="12700">
            <a:solidFill>
              <a:srgbClr val="E7DBF5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4472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3924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6484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caller's uid must match the document's owner field.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" y="4133088"/>
            <a:ext cx="5760720" cy="731520"/>
          </a:xfrm>
          <a:prstGeom prst="roundRect">
            <a:avLst>
              <a:gd name="adj" fmla="val 15000"/>
            </a:avLst>
          </a:prstGeom>
          <a:solidFill>
            <a:srgbClr val="E0D2F2"/>
          </a:solidFill>
          <a:ln w="12700">
            <a:solidFill>
              <a:srgbClr val="E0D2F2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30682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4251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keeps(field)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4507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Server-only fields cannot change in a client write.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" y="4992624"/>
            <a:ext cx="5760720" cy="731520"/>
          </a:xfrm>
          <a:prstGeom prst="roundRect">
            <a:avLst>
              <a:gd name="adj" fmla="val 15000"/>
            </a:avLst>
          </a:prstGeom>
          <a:solidFill>
            <a:srgbClr val="D9C9EF"/>
          </a:solidFill>
          <a:ln w="12700">
            <a:solidFill>
              <a:srgbClr val="D9C9EF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516636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5111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rules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316736" y="5367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review is allowed only after a resolved exchange.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638544" y="1554480"/>
            <a:ext cx="4986223" cy="2121408"/>
          </a:xfrm>
          <a:prstGeom prst="roundRect">
            <a:avLst>
              <a:gd name="adj" fmla="val 517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94576" y="1792224"/>
            <a:ext cx="402336" cy="40233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3207" y="1900855"/>
            <a:ext cx="185075" cy="185075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406640" y="1847088"/>
            <a:ext cx="3980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894576" y="2340864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CRUD own items, submit claims and reviews, flag content.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894576" y="2761488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Moderator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 flags, apply strikes, view every flag in the queue.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894576" y="3182112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 user roles, plus all moderator powers.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638544" y="3877056"/>
            <a:ext cx="4986223" cy="1975104"/>
          </a:xfrm>
          <a:prstGeom prst="roundRect">
            <a:avLst>
              <a:gd name="adj" fmla="val 555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894576" y="4114800"/>
            <a:ext cx="402336" cy="402336"/>
          </a:xfrm>
          <a:prstGeom prst="ellipse">
            <a:avLst/>
          </a:prstGeom>
          <a:solidFill>
            <a:srgbClr val="F8D7E1"/>
          </a:solidFill>
          <a:ln w="12700">
            <a:solidFill>
              <a:srgbClr val="F8D7E1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207" y="4223431"/>
            <a:ext cx="185075" cy="185075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7406640" y="4169664"/>
            <a:ext cx="3980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a client cannot fake trust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894576" y="4645152"/>
            <a:ext cx="4474159" cy="329184"/>
          </a:xfrm>
          <a:prstGeom prst="roundRect">
            <a:avLst>
              <a:gd name="adj" fmla="val 19444"/>
            </a:avLst>
          </a:prstGeom>
          <a:solidFill>
            <a:srgbClr val="F3EEFB"/>
          </a:solidFill>
          <a:ln w="12700">
            <a:solidFill>
              <a:srgbClr val="E7DEF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040880" y="4645152"/>
            <a:ext cx="41815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keeps('trustScore')   →   request == resource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894576" y="5047488"/>
            <a:ext cx="44741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Rules reject any write where trustScore differs from the stored value. Only Cloud Functions, running on the Admin SDK, bypass rules — so trust, status and match scores can only ever come from the server.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Functions — the API surface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1556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Functions v2 on Node 22 · triggers react to document lifecycle events, onCall functions are invoked from the client over HTTPS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1952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019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onDocumentWritten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67712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suggestMatches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7860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Scores every lost / found pair, writes the match onto both reports and notifies both posters.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38218" y="1700784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5962" y="1901952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5962" y="19019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onDocumentCreated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575962" y="2267712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onClaimCreated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5962" y="257860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Tells the item's poster a claim is waiting, so they can approve or reject it.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109509" y="1700784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7253" y="1901952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47253" y="19019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onDocumentWritten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347253" y="2267712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onClaimResolved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47253" y="257860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Updates item status and user stats, recomputes trust, notifies the claimant.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66928" y="3291840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493008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493008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onDocumentCreated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385876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onReviewCreated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169664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Aggregates the rating average and recomputes the ratee's trust score.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338218" y="3291840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5962" y="3493008"/>
            <a:ext cx="1393546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5962" y="3493008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onDocumentCreated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575962" y="385876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onFlagCreated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5962" y="4169664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Increments flagCount and auto-hides the target once the threshold is hit.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09509" y="3291840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7253" y="3493008"/>
            <a:ext cx="1196035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47253" y="3493008"/>
            <a:ext cx="11960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onCall · HTTPS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347253" y="385876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confirmTransaction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47253" y="4169664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Two-party handshake — marks the listing sold once both sides have confirmed.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66928" y="4882896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" y="5084064"/>
            <a:ext cx="1196035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5084064"/>
            <a:ext cx="11960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onCall · HTTPS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44982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resolveFlag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" y="5760720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Closes a flag and optionally applies a strike to the offending user.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4338218" y="4882896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5962" y="5084064"/>
            <a:ext cx="1196035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5962" y="5084064"/>
            <a:ext cx="11960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onCall · HTTPS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575962" y="544982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recomputeTrustScore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5962" y="5760720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Recalculates trust from ratings, activity, verification, tenure and strikes.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8109509" y="4882896"/>
            <a:ext cx="3515258" cy="1426464"/>
          </a:xfrm>
          <a:prstGeom prst="roundRect">
            <a:avLst>
              <a:gd name="adj" fmla="val 7692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47253" y="5084064"/>
            <a:ext cx="1196035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47253" y="5084064"/>
            <a:ext cx="11960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onCall · HTTPS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8347253" y="5449824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setUserRole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347253" y="5760720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 only — sets the Firebase custom claim and the user document role.</a:t>
            </a:r>
            <a:endParaRPr lang="en-US" sz="9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matching and trust are scored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760720" cy="4754880"/>
          </a:xfrm>
          <a:prstGeom prst="roundRect">
            <a:avLst>
              <a:gd name="adj" fmla="val 2308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402336" cy="402336"/>
          </a:xfrm>
          <a:prstGeom prst="ellipse">
            <a:avLst/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879" y="1827703"/>
            <a:ext cx="185075" cy="185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7739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 score  (0 – 100)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2128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functions/src/scoring.js  ·  weight contributed by each factor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68096" y="2523744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41248" y="5047488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F3EEFB"/>
          </a:solidFill>
          <a:ln w="12700">
            <a:solidFill>
              <a:srgbClr val="E7DE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9264" y="504748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matchScore = category + keywords + zone + recency + complementarity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554126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Keyword overlap is a Jaccard coefficient over the tokenised title and description; zone uses an adjacency matrix; recency decays exponentially over seven days; complementarity checks that one report is lost and the other found.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6638544" y="1481328"/>
            <a:ext cx="4986223" cy="4754880"/>
          </a:xfrm>
          <a:prstGeom prst="roundRect">
            <a:avLst>
              <a:gd name="adj" fmla="val 2308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12864" y="1719072"/>
            <a:ext cx="402336" cy="40233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495" y="1827703"/>
            <a:ext cx="185075" cy="185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24928" y="1773936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score  (0 – 100)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912864" y="2212848"/>
            <a:ext cx="4437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Bayesian-damped, computed only in Cloud Functions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876288" y="2560320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8F5FD"/>
          </a:solidFill>
          <a:ln w="12700">
            <a:solidFill>
              <a:srgbClr val="F8F5F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86016" y="263347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98601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644384" y="25603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</a:t>
            </a:r>
            <a:endParaRPr lang="en-US" sz="1020" dirty="0"/>
          </a:p>
        </p:txBody>
      </p:sp>
      <p:sp>
        <p:nvSpPr>
          <p:cNvPr id="22" name="Text 17"/>
          <p:cNvSpPr txBox="1"/>
          <p:nvPr/>
        </p:nvSpPr>
        <p:spPr>
          <a:xfrm>
            <a:off x="8942832" y="2560320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new account starts here.</a:t>
            </a:r>
            <a:endParaRPr lang="en-US" sz="940" dirty="0"/>
          </a:p>
        </p:txBody>
      </p:sp>
      <p:sp>
        <p:nvSpPr>
          <p:cNvPr id="23" name="Shape 18"/>
          <p:cNvSpPr/>
          <p:nvPr/>
        </p:nvSpPr>
        <p:spPr>
          <a:xfrm>
            <a:off x="6876288" y="2999232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86016" y="307238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86016" y="30723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±40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7644384" y="29992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Ratings</a:t>
            </a:r>
            <a:endParaRPr lang="en-US" sz="1020" dirty="0"/>
          </a:p>
        </p:txBody>
      </p:sp>
      <p:sp>
        <p:nvSpPr>
          <p:cNvPr id="27" name="Text 22"/>
          <p:cNvSpPr txBox="1"/>
          <p:nvPr/>
        </p:nvSpPr>
        <p:spPr>
          <a:xfrm>
            <a:off x="8942832" y="2999232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(avg − 3) × count / (count + 5) × 40</a:t>
            </a:r>
            <a:endParaRPr lang="en-US" sz="940" dirty="0"/>
          </a:p>
        </p:txBody>
      </p:sp>
      <p:sp>
        <p:nvSpPr>
          <p:cNvPr id="28" name="Shape 23"/>
          <p:cNvSpPr/>
          <p:nvPr/>
        </p:nvSpPr>
        <p:spPr>
          <a:xfrm>
            <a:off x="6876288" y="3438144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8F5FD"/>
          </a:solidFill>
          <a:ln w="12700">
            <a:solidFill>
              <a:srgbClr val="F8F5F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986016" y="351129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986016" y="35112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+25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7644384" y="34381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Activity</a:t>
            </a:r>
            <a:endParaRPr lang="en-US" sz="1020" dirty="0"/>
          </a:p>
        </p:txBody>
      </p:sp>
      <p:sp>
        <p:nvSpPr>
          <p:cNvPr id="32" name="Text 27"/>
          <p:cNvSpPr txBox="1"/>
          <p:nvPr/>
        </p:nvSpPr>
        <p:spPr>
          <a:xfrm>
            <a:off x="8942832" y="3438144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log₂(resolved + 1) × 5, capped</a:t>
            </a:r>
            <a:endParaRPr lang="en-US" sz="940" dirty="0"/>
          </a:p>
        </p:txBody>
      </p:sp>
      <p:sp>
        <p:nvSpPr>
          <p:cNvPr id="33" name="Shape 28"/>
          <p:cNvSpPr/>
          <p:nvPr/>
        </p:nvSpPr>
        <p:spPr>
          <a:xfrm>
            <a:off x="6876288" y="3877056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986016" y="39502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AEBC0"/>
          </a:solidFill>
          <a:ln w="12700">
            <a:solidFill>
              <a:srgbClr val="FAEBC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986016" y="39502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A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7644384" y="38770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Verification</a:t>
            </a:r>
            <a:endParaRPr lang="en-US" sz="1020" dirty="0"/>
          </a:p>
        </p:txBody>
      </p:sp>
      <p:sp>
        <p:nvSpPr>
          <p:cNvPr id="37" name="Text 32"/>
          <p:cNvSpPr txBox="1"/>
          <p:nvPr/>
        </p:nvSpPr>
        <p:spPr>
          <a:xfrm>
            <a:off x="8942832" y="3877056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verified campus email address</a:t>
            </a:r>
            <a:endParaRPr lang="en-US" sz="940" dirty="0"/>
          </a:p>
        </p:txBody>
      </p:sp>
      <p:sp>
        <p:nvSpPr>
          <p:cNvPr id="38" name="Shape 33"/>
          <p:cNvSpPr/>
          <p:nvPr/>
        </p:nvSpPr>
        <p:spPr>
          <a:xfrm>
            <a:off x="6876288" y="4315968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8F5FD"/>
          </a:solidFill>
          <a:ln w="12700">
            <a:solidFill>
              <a:srgbClr val="F8F5F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986016" y="43891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986016" y="43891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7644384" y="43159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Responsiveness</a:t>
            </a:r>
            <a:endParaRPr lang="en-US" sz="1020" dirty="0"/>
          </a:p>
        </p:txBody>
      </p:sp>
      <p:sp>
        <p:nvSpPr>
          <p:cNvPr id="42" name="Text 37"/>
          <p:cNvSpPr txBox="1"/>
          <p:nvPr/>
        </p:nvSpPr>
        <p:spPr>
          <a:xfrm>
            <a:off x="8942832" y="4315968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Derived from the chat response rate</a:t>
            </a:r>
            <a:endParaRPr lang="en-US" sz="940" dirty="0"/>
          </a:p>
        </p:txBody>
      </p:sp>
      <p:sp>
        <p:nvSpPr>
          <p:cNvPr id="43" name="Shape 38"/>
          <p:cNvSpPr/>
          <p:nvPr/>
        </p:nvSpPr>
        <p:spPr>
          <a:xfrm>
            <a:off x="6876288" y="4754880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986016" y="482803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6986016" y="48280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7644384" y="47548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Tenure</a:t>
            </a:r>
            <a:endParaRPr lang="en-US" sz="1020" dirty="0"/>
          </a:p>
        </p:txBody>
      </p:sp>
      <p:sp>
        <p:nvSpPr>
          <p:cNvPr id="47" name="Text 42"/>
          <p:cNvSpPr txBox="1"/>
          <p:nvPr/>
        </p:nvSpPr>
        <p:spPr>
          <a:xfrm>
            <a:off x="8942832" y="4754880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of days since joining</a:t>
            </a:r>
            <a:endParaRPr lang="en-US" sz="940" dirty="0"/>
          </a:p>
        </p:txBody>
      </p:sp>
      <p:sp>
        <p:nvSpPr>
          <p:cNvPr id="48" name="Shape 43"/>
          <p:cNvSpPr/>
          <p:nvPr/>
        </p:nvSpPr>
        <p:spPr>
          <a:xfrm>
            <a:off x="6876288" y="5193792"/>
            <a:ext cx="4510735" cy="420624"/>
          </a:xfrm>
          <a:prstGeom prst="roundRect">
            <a:avLst>
              <a:gd name="adj" fmla="val 17391"/>
            </a:avLst>
          </a:prstGeom>
          <a:solidFill>
            <a:srgbClr val="F8F5FD"/>
          </a:solidFill>
          <a:ln w="12700">
            <a:solidFill>
              <a:srgbClr val="F8F5F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986016" y="526694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8D7E1"/>
          </a:solidFill>
          <a:ln w="12700">
            <a:solidFill>
              <a:srgbClr val="F8D7E1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986016" y="52669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456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−15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7644384" y="519379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Strikes</a:t>
            </a:r>
            <a:endParaRPr lang="en-US" sz="1020" dirty="0"/>
          </a:p>
        </p:txBody>
      </p:sp>
      <p:sp>
        <p:nvSpPr>
          <p:cNvPr id="52" name="Text 47"/>
          <p:cNvSpPr txBox="1"/>
          <p:nvPr/>
        </p:nvSpPr>
        <p:spPr>
          <a:xfrm>
            <a:off x="8942832" y="5193792"/>
            <a:ext cx="24259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Subtracted for each moderator strike</a:t>
            </a:r>
            <a:endParaRPr lang="en-US" sz="940" dirty="0"/>
          </a:p>
        </p:txBody>
      </p:sp>
      <p:sp>
        <p:nvSpPr>
          <p:cNvPr id="53" name="Text 48"/>
          <p:cNvSpPr txBox="1"/>
          <p:nvPr/>
        </p:nvSpPr>
        <p:spPr>
          <a:xfrm>
            <a:off x="6912864" y="5760720"/>
            <a:ext cx="44375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i="1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Damping is the point: one five-star review cannot outweigh a long record, and the client can never write the result.</a:t>
            </a:r>
            <a:endParaRPr lang="en-US" sz="9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Environments and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15258" cy="1810512"/>
          </a:xfrm>
          <a:prstGeom prst="roundRect">
            <a:avLst>
              <a:gd name="adj" fmla="val 6061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528" y="1869216"/>
            <a:ext cx="193487" cy="193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773936"/>
            <a:ext cx="2472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development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2029968"/>
            <a:ext cx="2472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Emulator Suite</a:t>
            </a:r>
            <a:endParaRPr lang="en-US" sz="92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14016"/>
            <a:ext cx="30031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9099 · firestore 8080 · functions 5001 · storage 9199. A production build never connects to an emulator.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338218" y="1536192"/>
            <a:ext cx="3515258" cy="1810512"/>
          </a:xfrm>
          <a:prstGeom prst="roundRect">
            <a:avLst>
              <a:gd name="adj" fmla="val 6061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4250" y="1755648"/>
            <a:ext cx="420624" cy="42062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819" y="1869216"/>
            <a:ext cx="193487" cy="1934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24602" y="1773936"/>
            <a:ext cx="2472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Preview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124602" y="2029968"/>
            <a:ext cx="2472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 preview per pull request</a:t>
            </a:r>
            <a:endParaRPr lang="en-US" sz="920" dirty="0"/>
          </a:p>
        </p:txBody>
      </p:sp>
      <p:sp>
        <p:nvSpPr>
          <p:cNvPr id="15" name="Text 11"/>
          <p:cNvSpPr txBox="1"/>
          <p:nvPr/>
        </p:nvSpPr>
        <p:spPr>
          <a:xfrm>
            <a:off x="4594250" y="2414016"/>
            <a:ext cx="30031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PR gets its own URL against a Firebase staging project, so reviewers click before merging.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109509" y="1536192"/>
            <a:ext cx="3515258" cy="1810512"/>
          </a:xfrm>
          <a:prstGeom prst="roundRect">
            <a:avLst>
              <a:gd name="adj" fmla="val 6061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5541" y="1755648"/>
            <a:ext cx="420624" cy="42062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109" y="1869216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95893" y="1773936"/>
            <a:ext cx="2472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8895893" y="2029968"/>
            <a:ext cx="2472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 CDN + Firebase backend</a:t>
            </a:r>
            <a:endParaRPr lang="en-US" sz="920" dirty="0"/>
          </a:p>
        </p:txBody>
      </p:sp>
      <p:sp>
        <p:nvSpPr>
          <p:cNvPr id="21" name="Text 16"/>
          <p:cNvSpPr txBox="1"/>
          <p:nvPr/>
        </p:nvSpPr>
        <p:spPr>
          <a:xfrm>
            <a:off x="8365541" y="2414016"/>
            <a:ext cx="300319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web/dist served globally as an SPA with rewrites; Firebase carries auth, data, storage and functions.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566928" y="3547872"/>
            <a:ext cx="11057839" cy="1463040"/>
          </a:xfrm>
          <a:prstGeom prst="roundRect">
            <a:avLst>
              <a:gd name="adj" fmla="val 7500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77824" y="3749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77824" y="4078224"/>
            <a:ext cx="965606" cy="402336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77824" y="4078224"/>
            <a:ext cx="9656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916582" y="4206240"/>
            <a:ext cx="219456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209190" y="4078224"/>
            <a:ext cx="2465222" cy="402336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09190" y="4078224"/>
            <a:ext cx="24652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 build — npm run build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47565" y="4206240"/>
            <a:ext cx="219456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040173" y="4078224"/>
            <a:ext cx="2315261" cy="402336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040173" y="4078224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web/dist SPA with rewrites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428586" y="4206240"/>
            <a:ext cx="219456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721194" y="4078224"/>
            <a:ext cx="2915107" cy="402336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21194" y="4078224"/>
            <a:ext cx="291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Preview on PR, production on merge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877824" y="4590288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 backend ships separately:   firebase deploy --only firestore:rules,functions,storage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66928" y="5193792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877824" y="5413248"/>
            <a:ext cx="3051962" cy="658368"/>
          </a:xfrm>
          <a:prstGeom prst="roundRect">
            <a:avLst>
              <a:gd name="adj" fmla="val 13889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42416" y="554126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047" y="5649895"/>
            <a:ext cx="185075" cy="18507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554480" y="5504688"/>
            <a:ext cx="2229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Vercel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1554480" y="5742432"/>
            <a:ext cx="2229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CDN · web/dist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130954" y="5669280"/>
            <a:ext cx="237744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569866" y="5413248"/>
            <a:ext cx="3051962" cy="658368"/>
          </a:xfrm>
          <a:prstGeom prst="roundRect">
            <a:avLst>
              <a:gd name="adj" fmla="val 13889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734458" y="554126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089" y="5649895"/>
            <a:ext cx="185075" cy="18507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246522" y="5504688"/>
            <a:ext cx="2229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Firebase</a:t>
            </a:r>
            <a:endParaRPr lang="en-US" sz="1150" dirty="0"/>
          </a:p>
        </p:txBody>
      </p:sp>
      <p:sp>
        <p:nvSpPr>
          <p:cNvPr id="47" name="Text 40"/>
          <p:cNvSpPr txBox="1"/>
          <p:nvPr/>
        </p:nvSpPr>
        <p:spPr>
          <a:xfrm>
            <a:off x="5246522" y="5742432"/>
            <a:ext cx="2229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· Firestore · Storage · Functions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7822997" y="5669280"/>
            <a:ext cx="237744" cy="155448"/>
          </a:xfrm>
          <a:prstGeom prst="rightArrow">
            <a:avLst/>
          </a:prstGeom>
          <a:solidFill>
            <a:srgbClr val="CFC6E4"/>
          </a:solidFill>
          <a:ln w="12700">
            <a:solidFill>
              <a:srgbClr val="CFC6E4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261909" y="5413248"/>
            <a:ext cx="3051962" cy="658368"/>
          </a:xfrm>
          <a:prstGeom prst="roundRect">
            <a:avLst>
              <a:gd name="adj" fmla="val 13889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8426501" y="554126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132" y="5649895"/>
            <a:ext cx="185075" cy="185075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938565" y="5504688"/>
            <a:ext cx="2229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</a:t>
            </a:r>
            <a:endParaRPr lang="en-US" sz="1150" dirty="0"/>
          </a:p>
        </p:txBody>
      </p:sp>
      <p:sp>
        <p:nvSpPr>
          <p:cNvPr id="53" name="Text 45"/>
          <p:cNvSpPr txBox="1"/>
          <p:nvPr/>
        </p:nvSpPr>
        <p:spPr>
          <a:xfrm>
            <a:off x="8938565" y="5742432"/>
            <a:ext cx="22290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1.5 Flash · OpenMeteo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· TEAM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built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572436" cy="3218688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65376"/>
            <a:ext cx="786384" cy="786384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6537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98064"/>
            <a:ext cx="202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 Rakesh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0896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2024BCD0006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1248" y="3401568"/>
            <a:ext cx="1666037" cy="274320"/>
          </a:xfrm>
          <a:prstGeom prst="roundRect">
            <a:avLst>
              <a:gd name="adj" fmla="val 50000"/>
            </a:avLst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401568"/>
            <a:ext cx="1666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4F9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 &amp; Backend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840480"/>
            <a:ext cx="20237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model, Cloud Functions, the smart-matching logic, integration and version control.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5396" y="1572768"/>
            <a:ext cx="2572436" cy="3218688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69716" y="1865376"/>
            <a:ext cx="786384" cy="786384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69716" y="186537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669716" y="2798064"/>
            <a:ext cx="202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Shenza P M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69716" y="310896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2024BCD0002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69716" y="3401568"/>
            <a:ext cx="1452067" cy="274320"/>
          </a:xfrm>
          <a:prstGeom prst="roundRect">
            <a:avLst>
              <a:gd name="adj" fmla="val 50000"/>
            </a:avLst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69716" y="3401568"/>
            <a:ext cx="14520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58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 &amp; UI/UX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669716" y="3840480"/>
            <a:ext cx="20237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frontend, responsive layouts, listing pages, the search UI and animation.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23864" y="1572768"/>
            <a:ext cx="2572436" cy="3218688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8184" y="1865376"/>
            <a:ext cx="786384" cy="786384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8184" y="186537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498184" y="2798064"/>
            <a:ext cx="202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Muhammed Shanid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8184" y="310896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2024BCD0034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8184" y="3401568"/>
            <a:ext cx="1166774" cy="274320"/>
          </a:xfrm>
          <a:prstGeom prst="roundRect">
            <a:avLst>
              <a:gd name="adj" fmla="val 50000"/>
            </a:avLst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8184" y="3401568"/>
            <a:ext cx="1166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5F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&amp; Admin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98184" y="3840480"/>
            <a:ext cx="20237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Authentication, role-based access, the moderation flow and the admin dashboard.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331" y="1572768"/>
            <a:ext cx="2572436" cy="3218688"/>
          </a:xfrm>
          <a:prstGeom prst="roundRect">
            <a:avLst>
              <a:gd name="adj" fmla="val 4266"/>
            </a:avLst>
          </a:prstGeom>
          <a:solidFill>
            <a:srgbClr val="FBFAFE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651" y="1865376"/>
            <a:ext cx="786384" cy="786384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651" y="186537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HM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326651" y="2798064"/>
            <a:ext cx="202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Hadi M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326651" y="3108960"/>
            <a:ext cx="2023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2024BCD0058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326651" y="34015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651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64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&amp; DevOps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326651" y="3840480"/>
            <a:ext cx="20237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Marketplace module, in-app chat, notifications, deployment, testing and documentation.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4992624"/>
            <a:ext cx="11057839" cy="1115568"/>
          </a:xfrm>
          <a:prstGeom prst="roundRect">
            <a:avLst>
              <a:gd name="adj" fmla="val 9836"/>
            </a:avLst>
          </a:prstGeom>
          <a:solidFill>
            <a:srgbClr val="EDE4F9"/>
          </a:solidFill>
          <a:ln w="12700">
            <a:solidFill>
              <a:srgbClr val="DFD2F2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32688" y="5193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" y="5449824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Iterative and module-based. Week one fixed the data model and the function contract together; after that each member owned a vertical slice — frontend plus data — with shared components built first. Git and GitHub throughout, integrating continuously rather than merging once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-1554480"/>
            <a:ext cx="4206240" cy="4206240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5120640"/>
            <a:ext cx="1920240" cy="1920240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17320" y="5532120"/>
            <a:ext cx="1920240" cy="1920240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93268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· OUTCOME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07008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working platform, not a prototype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11680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3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students can recover lost items and trade second-hand goods inside their own campus — backed by search, smart matching, in-app chat, server-side trust scoring and community moderation. One trusted platform replaces the scattered WhatsApp groups and notice boards, and it demonstrates a complete full-stack system: authentication, real-time data, role-based access and a clean, mobile-friendly interface.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712464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3931920"/>
            <a:ext cx="402336" cy="402336"/>
          </a:xfrm>
          <a:prstGeom prst="ellipse">
            <a:avLst/>
          </a:prstGeom>
          <a:solidFill>
            <a:srgbClr val="E6DBF6"/>
          </a:solidFill>
          <a:ln w="12700">
            <a:solidFill>
              <a:srgbClr val="E6DB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015" y="4040551"/>
            <a:ext cx="185075" cy="18507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16736" y="3712464"/>
            <a:ext cx="1700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feed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0" y="3712464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2736" y="3931920"/>
            <a:ext cx="402336" cy="402336"/>
          </a:xfrm>
          <a:prstGeom prst="ellipse">
            <a:avLst/>
          </a:prstGeom>
          <a:solidFill>
            <a:srgbClr val="CFEADB"/>
          </a:solidFill>
          <a:ln w="12700">
            <a:solidFill>
              <a:srgbClr val="CFEAD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367" y="4040551"/>
            <a:ext cx="185075" cy="18507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33088" y="3712464"/>
            <a:ext cx="1700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Server-side trust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99632" y="3712464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3931920"/>
            <a:ext cx="402336" cy="402336"/>
          </a:xfrm>
          <a:prstGeom prst="ellipse">
            <a:avLst/>
          </a:prstGeom>
          <a:solidFill>
            <a:srgbClr val="FBDCC6"/>
          </a:solidFill>
          <a:ln w="12700">
            <a:solidFill>
              <a:srgbClr val="FBDCC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719" y="4040551"/>
            <a:ext cx="185075" cy="185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3712464"/>
            <a:ext cx="1700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Two-party handshake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15984" y="3712464"/>
            <a:ext cx="2615184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9E3F3"/>
            </a:solidFill>
            <a:prstDash val="solid"/>
          </a:ln>
          <a:effectLst>
            <a:outerShdw sx="100000" sy="100000" kx="0" ky="0" algn="bl" rotWithShape="0" blurRad="152400" dist="25400" dir="5400000">
              <a:srgbClr val="B7A9D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35440" y="3931920"/>
            <a:ext cx="402336" cy="402336"/>
          </a:xfrm>
          <a:prstGeom prst="ellipse">
            <a:avLst/>
          </a:prstGeom>
          <a:solidFill>
            <a:srgbClr val="D5E5F8"/>
          </a:solidFill>
          <a:ln w="12700">
            <a:solidFill>
              <a:srgbClr val="D5E5F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71" y="4040551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65792" y="3712464"/>
            <a:ext cx="17007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flagging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66928" y="4956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7C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Lost, found, and sold — all on campus.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" y="555955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566928" y="599846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0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 Rakesh  ·  Shenza P M  ·  Muhammed Shanid  ·  Hadi M      |      IIIT Kottayam  ·  September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FoundIt — Campus Lost &amp; Found and Student Marketplace</dc:title>
  <dc:subject>PptxGenJS Presentation</dc:subject>
  <dc:creator>FoundIt Team — IIIT Kottayam</dc:creator>
  <cp:lastModifiedBy>FoundIt Team — IIIT Kottayam</cp:lastModifiedBy>
  <cp:revision>1</cp:revision>
  <dcterms:created xsi:type="dcterms:W3CDTF">2026-09-29T19:17:43Z</dcterms:created>
  <dcterms:modified xsi:type="dcterms:W3CDTF">2026-09-29T19:17:43Z</dcterms:modified>
</cp:coreProperties>
</file>